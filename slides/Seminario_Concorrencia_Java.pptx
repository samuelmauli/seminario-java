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B3D91"/>
                </a:solidFill>
              </a:rPr>
              <a:t>Concorrência em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E87A1E"/>
                </a:solidFill>
              </a:rPr>
              <a:t>Threads, Memória e Coordenação Básica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44444"/>
                </a:solidFill>
              </a:rPr>
              <a:t>Equipe (ordem alfabética):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444"/>
                </a:solidFill>
              </a:rPr>
              <a:t>Lucas Gomes  •  Luiz Eduardo  •  Luiz Gabriel  •  Pedro Rossi  •  Renan Souza  •  Samuel Mauli  •  William Ferraz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B3D91"/>
                </a:solidFill>
              </a:rPr>
              <a:t>Seminário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1. Criação e controle de threads (Thread, Runnable)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2. Métodos: start, sleep, join, yield, interrupt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3. Daemon vs User threads + Ciclo de vida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4. Sincronização: synchronized, volatile, final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5. Monitores e wait/notify/notifyAll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6. Java Memory Model (happens-before)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7. Problemas: race, deadlock, starvation, livelock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8. Contexto por thread: ThreadLocal e InheritableThreadLocal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9. Demo do código + 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1) Thread vs Runnable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Thread = a unidade de execução da JVM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Runnable = a TAREFA que a thread roda (preferido)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start() inicia em paralelo; run() chamado direto roda na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486400" cy="2286000"/>
          </a:xfrm>
          <a:prstGeom prst="rect">
            <a:avLst/>
          </a:prstGeom>
          <a:solid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Menlo"/>
              </a:rPr>
              <a:t>new Thread(() -&gt; {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  System.out.println("rodando em "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      + Thread.currentThread().getName());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}, "worker").start();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2) Métodos importantes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start()        — inicia a thread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sleep(ms)      — pausa sem soltar locks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join()         — espera outra thread terminar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yield()        — sugere ceder o processador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interrupt()    — pede para parar (cooperativo)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isInterrupted()— consulta a flag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3) Ciclo de vida da Thread</a:t>
            </a:r>
          </a:p>
        </p:txBody>
      </p:sp>
      <p:pic>
        <p:nvPicPr>
          <p:cNvPr id="4" name="Picture 3" descr="cic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601200" cy="5040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3) Daemon vs User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User thread: a JVM espera ela terminar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Daemon thread: morre junto com a JVM (ex.: GC)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setDaemon(true) ANTES de start()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Quando só restam daemons → JVM encerra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315200" cy="1645920"/>
          </a:xfrm>
          <a:prstGeom prst="rect">
            <a:avLst/>
          </a:prstGeom>
          <a:solid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Menlo"/>
              </a:rPr>
              <a:t>Thread t = new Thread(...);</a:t>
            </a:r>
          </a:p>
          <a:p>
            <a:r>
              <a:rPr sz="1600">
                <a:solidFill>
                  <a:srgbClr val="1A1A2E"/>
                </a:solidFill>
                <a:latin typeface="Menlo"/>
              </a:rPr>
              <a:t>t.setDaemon(true);</a:t>
            </a:r>
          </a:p>
          <a:p>
            <a:r>
              <a:rPr sz="1600">
                <a:solidFill>
                  <a:srgbClr val="1A1A2E"/>
                </a:solidFill>
                <a:latin typeface="Menlo"/>
              </a:rPr>
              <a:t>t.start();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4) synchronized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Exclusão mútua: 1 thread por vez no bloco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Garante visibilidade (publica escritas)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Lock implícito = this (método) ou objeto (bloco)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Reentrante: mesma thread pode re-adquirir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2194560"/>
          </a:xfrm>
          <a:prstGeom prst="rect">
            <a:avLst/>
          </a:prstGeom>
          <a:solid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Menlo"/>
              </a:rPr>
              <a:t>public synchronized</a:t>
            </a:r>
          </a:p>
          <a:p>
            <a:r>
              <a:rPr sz="1600">
                <a:solidFill>
                  <a:srgbClr val="1A1A2E"/>
                </a:solidFill>
                <a:latin typeface="Menlo"/>
              </a:rPr>
              <a:t>void incrementar() {</a:t>
            </a:r>
          </a:p>
          <a:p>
            <a:r>
              <a:rPr sz="1600">
                <a:solidFill>
                  <a:srgbClr val="1A1A2E"/>
                </a:solidFill>
                <a:latin typeface="Menlo"/>
              </a:rPr>
              <a:t>    valor++;</a:t>
            </a:r>
          </a:p>
          <a:p>
            <a:r>
              <a:rPr sz="1600">
                <a:solidFill>
                  <a:srgbClr val="1A1A2E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4) volatile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Visibilidade entre threads (não fica em cache local)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NÃO garante atomicidade (i++ continua quebrado)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Uso clássico: flag de parada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Mais leve que synchronized — quando basta ler/escrever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212080" cy="2743200"/>
          </a:xfrm>
          <a:prstGeom prst="rect">
            <a:avLst/>
          </a:prstGeom>
          <a:solid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Menlo"/>
              </a:rPr>
              <a:t>private static</a:t>
            </a:r>
          </a:p>
          <a:p>
            <a:r>
              <a:rPr sz="1500">
                <a:solidFill>
                  <a:srgbClr val="1A1A2E"/>
                </a:solidFill>
                <a:latin typeface="Menlo"/>
              </a:rPr>
              <a:t>volatile boolean rodando = true;</a:t>
            </a:r>
          </a:p>
          <a:p>
            <a:r>
              <a:rPr sz="1500">
                <a:solidFill>
                  <a:srgbClr val="1A1A2E"/>
                </a:solidFill>
                <a:latin typeface="Menlo"/>
              </a:rPr>
              <a:t> </a:t>
            </a:r>
          </a:p>
          <a:p>
            <a:r>
              <a:rPr sz="1500">
                <a:solidFill>
                  <a:srgbClr val="1A1A2E"/>
                </a:solidFill>
                <a:latin typeface="Menlo"/>
              </a:rPr>
              <a:t>while (rodando) { ... }</a:t>
            </a:r>
          </a:p>
          <a:p>
            <a:r>
              <a:rPr sz="1500">
                <a:solidFill>
                  <a:srgbClr val="1A1A2E"/>
                </a:solidFill>
                <a:latin typeface="Menlo"/>
              </a:rPr>
              <a:t>// outra thread: rodando = false;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4) final &amp; Imutabilidade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final = atribuído uma vez (no construtor)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Objetos imutáveis são thread-safe por natureza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Safe publication: após o construtor, finals visíveis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Operações retornam NOVOS objetos (copy)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5) Monitores (intrinsic lock)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Todo objeto tem um monitor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synchronized(obj) adquire o monitor de obj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Lock REENTRANTE: mesma thread re-entra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Base de wait/notify (precisa estar com o monitor)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5) wait / notify / notifyAll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wait()      libera o monitor e bloqueia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notify()    acorda UMA thread esperando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notifyAll() acorda TODAS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Sempre dentro de synchronized e em while (spurious wakeups)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Caso clássico: produtor-consumidor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6) Java Memory Model — happens-before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44444"/>
                </a:solidFill>
              </a:rPr>
              <a:t>• Se A happens-before B, efeitos de A são visíveis em B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44444"/>
                </a:solidFill>
              </a:rPr>
              <a:t>• start() de uma thread happens-before seu início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44444"/>
                </a:solidFill>
              </a:rPr>
              <a:t>• Tudo da thread happens-before o join() retornar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44444"/>
                </a:solidFill>
              </a:rPr>
              <a:t>• unlock happens-before o próximo lock do mesmo monitor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44444"/>
                </a:solidFill>
              </a:rPr>
              <a:t>• write em volatile happens-before read seguinte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7) Problemas Clássicos</a:t>
            </a:r>
          </a:p>
        </p:txBody>
      </p:sp>
      <p:pic>
        <p:nvPicPr>
          <p:cNvPr id="4" name="Picture 3" descr="proble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4008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Race: resultado depende da ordem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Deadlock: locks em ordem inversa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Starvation: thread nunca pega CPU/lock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Livelock: reagem entre si, não progridem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7) Race Condition — medida</a:t>
            </a:r>
          </a:p>
        </p:txBody>
      </p:sp>
      <p:pic>
        <p:nvPicPr>
          <p:cNvPr id="4" name="Picture 3" descr="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10058400" cy="57476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7) Deadlock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44444"/>
                </a:solidFill>
              </a:rPr>
              <a:t>• Duas threads, dois locks, ordem invertida → trava tudo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44444"/>
                </a:solidFill>
              </a:rPr>
              <a:t>• Como evitar: ordem global de aquisição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44444"/>
                </a:solidFill>
              </a:rPr>
              <a:t>• Alternativa: ReentrantLock.tryLock(timeout)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solid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Menlo"/>
              </a:rPr>
              <a:t>// t1                       // t2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synchronized(A) {           synchronized(B) {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synchronized(B) {           synchronized(A) {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  ...                          ...   // DEADLOCK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}                           }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}                          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7) Starvation &amp; Livelock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Starvation: prioridades extremas ou thread gulosa monopoliza o lock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Livelock: cedem educadamente pra sempre — sem deadlock, sem progresso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Solução: fairness (ReentrantLock(true)), backoff aleatório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8)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Cada thread tem sua PRÓPRIA cópia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Útil para: requestId, SimpleDateFormat, contexto de usuário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Em thread pool: chamar remove() para evitar leak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212080" cy="2743200"/>
          </a:xfrm>
          <a:prstGeom prst="rect">
            <a:avLst/>
          </a:prstGeom>
          <a:solid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Menlo"/>
              </a:rPr>
              <a:t>ThreadLocal&lt;Integer&gt; c =</a:t>
            </a:r>
          </a:p>
          <a:p>
            <a:r>
              <a:rPr sz="1500">
                <a:solidFill>
                  <a:srgbClr val="1A1A2E"/>
                </a:solidFill>
                <a:latin typeface="Menlo"/>
              </a:rPr>
              <a:t>  ThreadLocal.withInitial(() -&gt; 0);</a:t>
            </a:r>
          </a:p>
          <a:p>
            <a:r>
              <a:rPr sz="1500">
                <a:solidFill>
                  <a:srgbClr val="1A1A2E"/>
                </a:solidFill>
                <a:latin typeface="Menlo"/>
              </a:rPr>
              <a:t>c.set(c.get() + 1);</a:t>
            </a:r>
          </a:p>
          <a:p>
            <a:r>
              <a:rPr sz="1500">
                <a:solidFill>
                  <a:srgbClr val="1A1A2E"/>
                </a:solidFill>
                <a:latin typeface="Menlo"/>
              </a:rPr>
              <a:t>c.remove();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8) InheritableThreadLocal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Igual ao ThreadLocal, mas o valor é HERDADO pela thread-filha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Snapshot tirado no momento da criação da filha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Útil p/ propagar contexto (requestId, locale, tracing)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Trade-off entre técnicas</a:t>
            </a:r>
          </a:p>
        </p:txBody>
      </p:sp>
      <p:pic>
        <p:nvPicPr>
          <p:cNvPr id="4" name="Picture 3" descr="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10058400" cy="57476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Demo do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16 exercícios independentes na pasta src/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Cada arquivo tem main + comentário-resumo no topo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Compilar:  javac -d out src/*.java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Executar:  java -cp out Ex11_RaceCondition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Rodaremos ao vivo: Ex11 (race), Ex12 (deadlock), Ex09 (wait/notify)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Concorrência ≠ paralelismo — é coordenação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Prefira imutabilidade &gt; volatile &gt; synchronized &gt; wait/notify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Sempre adquira locks na mesma ordem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ThreadLocal isola estado por thread sem locks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• Entender o JMM evita bugs invisíveis em produção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>
                <a:solidFill>
                  <a:srgbClr val="0B3D91"/>
                </a:solidFill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E87A1E"/>
                </a:solidFill>
              </a:rPr>
              <a:t>Perguntas?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</a:rPr>
              <a:t>Lucas Gomes  •  Luiz Eduardo  •  Luiz Gabriel  •  Pedro Rossi  •  Renan Souza  •  Samuel Mauli  •  William Ferraz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